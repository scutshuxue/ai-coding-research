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01887" y="1615976"/>
            <a:ext cx="524272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Skills 深度解析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74949" y="2406551"/>
            <a:ext cx="529768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+ VoltAgent 底层原理与实践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82168" y="3178076"/>
            <a:ext cx="40591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E9A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Skill 触发机制到多代理编排架构的完整技术剖析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2161" y="3730526"/>
            <a:ext cx="1437531" cy="304800"/>
          </a:xfrm>
          <a:prstGeom prst="roundRect">
            <a:avLst>
              <a:gd name="adj" fmla="val 16667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81211" y="3730526"/>
            <a:ext cx="0" cy="30480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3412" y="3806726"/>
            <a:ext cx="1012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52092" y="3730526"/>
            <a:ext cx="1818531" cy="304800"/>
          </a:xfrm>
          <a:prstGeom prst="roundRect">
            <a:avLst>
              <a:gd name="adj" fmla="val 16667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71142" y="3730526"/>
            <a:ext cx="0" cy="30480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3343" y="3806726"/>
            <a:ext cx="14016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23023" y="3730526"/>
            <a:ext cx="1678632" cy="304800"/>
          </a:xfrm>
          <a:prstGeom prst="roundRect">
            <a:avLst>
              <a:gd name="adj" fmla="val 16667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42073" y="3730526"/>
            <a:ext cx="0" cy="30480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4273" y="3806726"/>
            <a:ext cx="1258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54055" y="3730526"/>
            <a:ext cx="2027634" cy="304800"/>
          </a:xfrm>
          <a:prstGeom prst="roundRect">
            <a:avLst>
              <a:gd name="adj" fmla="val 16667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73105" y="3730526"/>
            <a:ext cx="0" cy="30480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5306" y="3806726"/>
            <a:ext cx="16148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5375" y="4746724"/>
            <a:ext cx="17519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 | AI Coding Workshop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32929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课程大纲 — 两大框架全景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999827"/>
            <a:ext cx="3691384" cy="3889772"/>
          </a:xfrm>
          <a:prstGeom prst="roundRect">
            <a:avLst>
              <a:gd name="adj" fmla="val 206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18877"/>
            <a:ext cx="3691384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266527"/>
            <a:ext cx="32988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631603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obra/superpowers  v5.0.4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1974354"/>
            <a:ext cx="32988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260104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 AI 开发工作流框架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2488555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个 Skill 覆盖完整开发生命周期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600" y="2831306"/>
            <a:ext cx="32988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117056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自动触发与编排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600" y="3345507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子代理隔离派遣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600" y="3573959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两阶段审查管线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600" y="3802410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强制执行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600" y="4119711"/>
            <a:ext cx="3234184" cy="443954"/>
          </a:xfrm>
          <a:prstGeom prst="roundRect">
            <a:avLst>
              <a:gd name="adj" fmla="val 11443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8650" y="4119711"/>
            <a:ext cx="0" cy="443954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4246513"/>
            <a:ext cx="29491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回答: 怎么做 (How)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53384" y="2839938"/>
            <a:ext cx="241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1616" y="999827"/>
            <a:ext cx="3691384" cy="3889772"/>
          </a:xfrm>
          <a:prstGeom prst="roundRect">
            <a:avLst>
              <a:gd name="adj" fmla="val 206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71616" y="1018877"/>
            <a:ext cx="3691384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0216" y="1266527"/>
            <a:ext cx="32988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VoltAgent Subagents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0216" y="1631603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VoltAgent/awesome-claude-code-subagents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0216" y="1974354"/>
            <a:ext cx="32988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0216" y="2260104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127+ 领域专家子代理集合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0216" y="2488555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大分类即插即用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0216" y="2831306"/>
            <a:ext cx="32988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0216" y="3117056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专业化 Prompt 模板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0216" y="3345507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工具权限隔离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0216" y="3573959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元编排代理协调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0216" y="3802410"/>
            <a:ext cx="32988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灵活安装部署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0216" y="4119711"/>
            <a:ext cx="3234184" cy="443954"/>
          </a:xfrm>
          <a:prstGeom prst="roundRect">
            <a:avLst>
              <a:gd name="adj" fmla="val 11443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319266" y="4119711"/>
            <a:ext cx="0" cy="443954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0716" y="4246513"/>
            <a:ext cx="29491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回答: 谁来做 (Who)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原理一: Skill 触发机制 — Claude Search Optimization (CSO)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72877"/>
            <a:ext cx="4635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触发链路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1266527"/>
            <a:ext cx="4544318" cy="314027"/>
          </a:xfrm>
          <a:prstGeom prst="roundRect">
            <a:avLst>
              <a:gd name="adj" fmla="val 1617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1266527"/>
            <a:ext cx="0" cy="31402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850" y="1342579"/>
            <a:ext cx="43373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用户输入消息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9357" y="1682055"/>
            <a:ext cx="4635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800" y="1955006"/>
            <a:ext cx="4544318" cy="488603"/>
          </a:xfrm>
          <a:prstGeom prst="roundRect">
            <a:avLst>
              <a:gd name="adj" fmla="val 1039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" y="1955006"/>
            <a:ext cx="0" cy="488603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850" y="2031057"/>
            <a:ext cx="43373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扫描所有 skill 的 description 字段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850" y="2205633"/>
            <a:ext cx="43373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匹配关键词: 错误消息、症状、工具名、文件类型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9357" y="2545110"/>
            <a:ext cx="4635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800" y="2818061"/>
            <a:ext cx="4544318" cy="314027"/>
          </a:xfrm>
          <a:prstGeom prst="roundRect">
            <a:avLst>
              <a:gd name="adj" fmla="val 1617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2818061"/>
            <a:ext cx="0" cy="31402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850" y="2894112"/>
            <a:ext cx="43373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匹配度 &gt;= 1% 即加载该 Skill 完整内容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9357" y="3233589"/>
            <a:ext cx="4635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4800" y="3506539"/>
            <a:ext cx="4544318" cy="314027"/>
          </a:xfrm>
          <a:prstGeom prst="roundRect">
            <a:avLst>
              <a:gd name="adj" fmla="val 1617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3850" y="3506539"/>
            <a:ext cx="0" cy="31402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850" y="3582591"/>
            <a:ext cx="43373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 内容优先级 &gt; 默认 System Prompt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9357" y="3922068"/>
            <a:ext cx="4635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4800" y="4195018"/>
            <a:ext cx="4544318" cy="314027"/>
          </a:xfrm>
          <a:prstGeom prst="roundRect">
            <a:avLst>
              <a:gd name="adj" fmla="val 1617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3850" y="4195018"/>
            <a:ext cx="0" cy="31402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850" y="4271070"/>
            <a:ext cx="43373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指令最高优先级（可覆盖 Skill）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52268" y="872877"/>
            <a:ext cx="3862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Frontmatter 规范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52268" y="1266527"/>
            <a:ext cx="3786932" cy="945803"/>
          </a:xfrm>
          <a:prstGeom prst="roundRect">
            <a:avLst>
              <a:gd name="adj" fmla="val 5371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37993" y="1364903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37993" y="1491853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subagent-driven-development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37993" y="1618804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Use when executing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37993" y="1745754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plans with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37993" y="1872704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 tasks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37993" y="1999655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52268" y="2212330"/>
            <a:ext cx="3862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的黄金法则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52268" y="2605980"/>
            <a:ext cx="3786932" cy="1002953"/>
          </a:xfrm>
          <a:prstGeom prst="roundRect">
            <a:avLst>
              <a:gd name="adj" fmla="val 5065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37993" y="2704356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BAD: "dispatches subagent per task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37993" y="2831306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code review between tasks"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37993" y="2958257"/>
            <a:ext cx="36877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(工作流摘要 -&gt; Claude 走捷径)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37993" y="3113782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GOOD: "Use when executing plans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37993" y="3240732"/>
            <a:ext cx="3687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independent tasks"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37993" y="3367683"/>
            <a:ext cx="36877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(纯触发条件 -&gt; 正确加载全文)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52268" y="3659684"/>
            <a:ext cx="3786932" cy="450503"/>
          </a:xfrm>
          <a:prstGeom prst="roundRect">
            <a:avLst>
              <a:gd name="adj" fmla="val 11276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71318" y="3659684"/>
            <a:ext cx="0" cy="450503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7319" y="3735735"/>
            <a:ext cx="3564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只描述 WHEN，不描述 HOW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17319" y="3891260"/>
            <a:ext cx="3564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否则 Claude 会从摘要取捷径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原理二: Skill 编排 — 线性工作流 + 条件分支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923627"/>
            <a:ext cx="87050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Skill 编排管线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1272778"/>
            <a:ext cx="936575" cy="723305"/>
          </a:xfrm>
          <a:prstGeom prst="roundRect">
            <a:avLst>
              <a:gd name="adj" fmla="val 702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1282303"/>
            <a:ext cx="936575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4924" y="1418630"/>
            <a:ext cx="6963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4924" y="1558230"/>
            <a:ext cx="696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头脑风暴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4924" y="1726406"/>
            <a:ext cx="696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精炼需求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92126" y="1399729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2626" y="1272778"/>
            <a:ext cx="844153" cy="837605"/>
          </a:xfrm>
          <a:prstGeom prst="roundRect">
            <a:avLst>
              <a:gd name="adj" fmla="val 606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482626" y="1282303"/>
            <a:ext cx="844153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3674" y="1418630"/>
            <a:ext cx="602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Review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3674" y="1672530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规格审查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03674" y="1840706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(子代理)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529" y="1399729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8029" y="1272778"/>
            <a:ext cx="844153" cy="837605"/>
          </a:xfrm>
          <a:prstGeom prst="roundRect">
            <a:avLst>
              <a:gd name="adj" fmla="val 606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568029" y="1282303"/>
            <a:ext cx="844153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9077" y="1418630"/>
            <a:ext cx="602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writing-plans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89077" y="1672530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任务计划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89077" y="1840706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 min 粒度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62933" y="1399729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3433" y="1272778"/>
            <a:ext cx="844153" cy="837605"/>
          </a:xfrm>
          <a:prstGeom prst="roundRect">
            <a:avLst>
              <a:gd name="adj" fmla="val 606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653433" y="1282303"/>
            <a:ext cx="844153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4481" y="1418630"/>
            <a:ext cx="602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Review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74481" y="1672530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计划审查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74481" y="1840706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(子代理)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48336" y="1399729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38836" y="1272778"/>
            <a:ext cx="844153" cy="866180"/>
          </a:xfrm>
          <a:prstGeom prst="roundRect">
            <a:avLst>
              <a:gd name="adj" fmla="val 6018"/>
            </a:avLst>
          </a:prstGeom>
          <a:solidFill>
            <a:srgbClr val="251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38836" y="1282303"/>
            <a:ext cx="844153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9884" y="1418630"/>
            <a:ext cx="602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59884" y="1558230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条件分支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59884" y="1726406"/>
            <a:ext cx="602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选择执行方式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33740" y="1399729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24240" y="1272778"/>
            <a:ext cx="844153" cy="780455"/>
          </a:xfrm>
          <a:prstGeom prst="roundRect">
            <a:avLst>
              <a:gd name="adj" fmla="val 6509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824240" y="1282303"/>
            <a:ext cx="844153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5288" y="1418630"/>
            <a:ext cx="602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Cycle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5288" y="1558230"/>
            <a:ext cx="602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RED-GREEN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5288" y="1812131"/>
            <a:ext cx="602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19143" y="1399729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9643" y="1272778"/>
            <a:ext cx="844153" cy="837605"/>
          </a:xfrm>
          <a:prstGeom prst="roundRect">
            <a:avLst>
              <a:gd name="adj" fmla="val 606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909643" y="1282303"/>
            <a:ext cx="844153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30691" y="1418630"/>
            <a:ext cx="602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30691" y="1672530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请求+处理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30691" y="1840706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审查反馈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04547" y="1399729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995047" y="1272778"/>
            <a:ext cx="844153" cy="723305"/>
          </a:xfrm>
          <a:prstGeom prst="roundRect">
            <a:avLst>
              <a:gd name="adj" fmla="val 702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7995047" y="1282303"/>
            <a:ext cx="844153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16095" y="1418630"/>
            <a:ext cx="602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116095" y="1558230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验证+合并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16095" y="1726406"/>
            <a:ext cx="602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分支收尾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04800" y="2291358"/>
            <a:ext cx="87050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执行方式三选一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04800" y="2640509"/>
            <a:ext cx="2743200" cy="1205954"/>
          </a:xfrm>
          <a:prstGeom prst="roundRect">
            <a:avLst>
              <a:gd name="adj" fmla="val 421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23850" y="2640509"/>
            <a:ext cx="0" cy="1205954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9850" y="2767459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subagent-driven-development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9850" y="2970609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 | 同一会话内执行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9850" y="3157835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每任务派遣独立子代理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69850" y="3345061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两阶段审查: Spec -&gt; Quality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69850" y="3532287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无需人工干预, 快速迭代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00400" y="2640509"/>
            <a:ext cx="2743200" cy="1205954"/>
          </a:xfrm>
          <a:prstGeom prst="roundRect">
            <a:avLst>
              <a:gd name="adj" fmla="val 421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3219450" y="2640509"/>
            <a:ext cx="0" cy="120595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65450" y="2767459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executing-plans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365450" y="2970609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跨会话 / 不支持子代理平台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365450" y="3157835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连续执行, 人工检查点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365450" y="3345061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 Cursor / OpenCode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096000" y="2640509"/>
            <a:ext cx="2743200" cy="1205954"/>
          </a:xfrm>
          <a:prstGeom prst="roundRect">
            <a:avLst>
              <a:gd name="adj" fmla="val 421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6115050" y="2640509"/>
            <a:ext cx="0" cy="120595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61050" y="2767459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dispatching-parallel-agents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261050" y="2970609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并行会话执行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61050" y="3157835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多个独立任务同时处理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61050" y="3345061"/>
            <a:ext cx="25002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适合大型项目加速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04800" y="3973413"/>
            <a:ext cx="8534400" cy="415528"/>
          </a:xfrm>
          <a:prstGeom prst="roundRect">
            <a:avLst>
              <a:gd name="adj" fmla="val 12225"/>
            </a:avLst>
          </a:prstGeom>
          <a:solidFill>
            <a:srgbClr val="1A2A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323850" y="3973413"/>
            <a:ext cx="0" cy="415528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5300" y="4100215"/>
            <a:ext cx="83553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关键设计: Skill 间通过 REQUIRED SUB-SKILL 标记隐式依赖, brainstorming 强制检查"是否已头脑风暴"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原理三: 子代理派遣模式 — 四层架构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72877"/>
            <a:ext cx="481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四层审查架构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4800" y="1177677"/>
            <a:ext cx="4723358" cy="734616"/>
          </a:xfrm>
          <a:prstGeom prst="roundRect">
            <a:avLst>
              <a:gd name="adj" fmla="val 6915"/>
            </a:avLst>
          </a:prstGeom>
          <a:solidFill>
            <a:srgbClr val="251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1177677"/>
            <a:ext cx="0" cy="73461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850" y="1253728"/>
            <a:ext cx="45199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Implementer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9850" y="1414909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输入: Task 完整文本 (不是文件路径)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9850" y="1559570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工作: 实现 + TDD + 自审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50" y="1704231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DONE / DONE_WITH_CONCERNS / NEEDS_CONTEXT / BLOCKED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4800" y="1963043"/>
            <a:ext cx="4723358" cy="589955"/>
          </a:xfrm>
          <a:prstGeom prst="roundRect">
            <a:avLst>
              <a:gd name="adj" fmla="val 861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1963043"/>
            <a:ext cx="0" cy="589955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850" y="2039094"/>
            <a:ext cx="45199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Spec Reviewer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850" y="2200275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原则: 怀疑 Implementer 报告, 代码比报告可信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9850" y="2344936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检查: 遗漏需求 / 额外功能 / 误解释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800" y="2603748"/>
            <a:ext cx="4723358" cy="589955"/>
          </a:xfrm>
          <a:prstGeom prst="roundRect">
            <a:avLst>
              <a:gd name="adj" fmla="val 861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3850" y="2603748"/>
            <a:ext cx="0" cy="589955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850" y="2679799"/>
            <a:ext cx="45199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Code Quality Reviewer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9850" y="2840980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触发: Spec 审查通过后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9850" y="2985641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检查: 代码质量 / SOLID / 测试覆盖 / 文件分解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800" y="3244453"/>
            <a:ext cx="4723358" cy="445294"/>
          </a:xfrm>
          <a:prstGeom prst="roundRect">
            <a:avLst>
              <a:gd name="adj" fmla="val 1140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3850" y="3244453"/>
            <a:ext cx="0" cy="44529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850" y="3320504"/>
            <a:ext cx="45199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Final Code Reviewer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9850" y="3481685"/>
            <a:ext cx="451998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触发: 所有任务完成后, 跨文件一致性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5859" y="872877"/>
            <a:ext cx="370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上下文隔离设计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05859" y="1177677"/>
            <a:ext cx="3633341" cy="1844278"/>
          </a:xfrm>
          <a:prstGeom prst="roundRect">
            <a:avLst>
              <a:gd name="adj" fmla="val 2754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16885" y="1276052"/>
            <a:ext cx="3479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 精心构造输入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16885" y="1431578"/>
            <a:ext cx="3479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Implementer 输入: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69285" y="1587103"/>
            <a:ext cx="32588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完整文本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场景设定 (位置/依赖)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架构上下文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6885" y="2028379"/>
            <a:ext cx="3479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Reviewer 输入: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9285" y="2183904"/>
            <a:ext cx="32588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完整需求 + 实现代码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(无会话历史)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16885" y="2482304"/>
            <a:ext cx="3479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Reviewer 输入: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69285" y="2637830"/>
            <a:ext cx="32588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+ 计划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(无实现思考过程)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5859" y="3098155"/>
            <a:ext cx="3633341" cy="850404"/>
          </a:xfrm>
          <a:prstGeom prst="roundRect">
            <a:avLst>
              <a:gd name="adj" fmla="val 5974"/>
            </a:avLst>
          </a:prstGeom>
          <a:solidFill>
            <a:srgbClr val="1A2A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32809" y="3199656"/>
            <a:ext cx="344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核心: 每个子代理 = 新上下文空间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32809" y="3367832"/>
            <a:ext cx="344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不继承历史 -&gt; 避免 Path Dependency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32809" y="3536007"/>
            <a:ext cx="344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构造输入 &gt; 子代理自读文件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32809" y="3704183"/>
            <a:ext cx="344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禁止多子代理并行编辑同一文件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原理四: 两阶段审查管线 — 做对事 vs 把事做对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923627"/>
            <a:ext cx="46352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审查流程 (Per Task)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129019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1779" y="137115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1101" y="1272778"/>
            <a:ext cx="4138017" cy="339626"/>
          </a:xfrm>
          <a:prstGeom prst="roundRect">
            <a:avLst>
              <a:gd name="adj" fmla="val 1495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1361629"/>
            <a:ext cx="3961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Implementer 报告 DONE / DONE_WITH_CONCERNS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750" y="1663154"/>
            <a:ext cx="45057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192330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1779" y="200426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101" y="1818680"/>
            <a:ext cx="4138017" cy="514201"/>
          </a:xfrm>
          <a:prstGeom prst="roundRect">
            <a:avLst>
              <a:gd name="adj" fmla="val 9879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8051" y="1907530"/>
            <a:ext cx="3961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Compliance Review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验证"做对了事"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8051" y="2082105"/>
            <a:ext cx="3961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怀疑 Implementer 报告, 逐行对比需求 vs 实现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750" y="2383631"/>
            <a:ext cx="45057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FAIL -&gt; Implementer 修复 -&gt; 重审 (max 3 次)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800" y="268188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1779" y="276284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101" y="2577257"/>
            <a:ext cx="4138017" cy="514201"/>
          </a:xfrm>
          <a:prstGeom prst="roundRect">
            <a:avLst>
              <a:gd name="adj" fmla="val 9879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8051" y="2666107"/>
            <a:ext cx="3961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Review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验证"把事做对"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8051" y="2840682"/>
            <a:ext cx="3961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代码质量 / SOLID / 测试覆盖 / 无过度重构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750" y="3142208"/>
            <a:ext cx="45057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FAIL -&gt; Implementer 修复 -&gt; 重审 (max 3 次)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4800" y="33389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1779" y="341992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1101" y="3335834"/>
            <a:ext cx="4138017" cy="311051"/>
          </a:xfrm>
          <a:prstGeom prst="roundRect">
            <a:avLst>
              <a:gd name="adj" fmla="val 1633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8051" y="3424684"/>
            <a:ext cx="3961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Task Complete in TodoWrite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1750" y="3697635"/>
            <a:ext cx="45057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所有任务完成后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4800" y="390867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1779" y="398963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1101" y="3891260"/>
            <a:ext cx="4138017" cy="339626"/>
          </a:xfrm>
          <a:prstGeom prst="roundRect">
            <a:avLst>
              <a:gd name="adj" fmla="val 1495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8051" y="3980111"/>
            <a:ext cx="3961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Code Reviewer — 整体一致性检查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52268" y="923627"/>
            <a:ext cx="38626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设计洞察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52268" y="1272778"/>
            <a:ext cx="3786932" cy="1060549"/>
          </a:xfrm>
          <a:prstGeom prst="roundRect">
            <a:avLst>
              <a:gd name="adj" fmla="val 479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071318" y="1272778"/>
            <a:ext cx="0" cy="1060549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8069" y="1399729"/>
            <a:ext cx="3461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为什么顺序不可互换?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68069" y="1650504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违规修复后，代码结构会变化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68069" y="1835795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提前做质量审查 = 审查旧代码 = 浪费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68069" y="2021086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 Spec 再 Quality 避免双重审查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52268" y="2434828"/>
            <a:ext cx="3786932" cy="1431131"/>
          </a:xfrm>
          <a:prstGeom prst="roundRect">
            <a:avLst>
              <a:gd name="adj" fmla="val 355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071318" y="2434828"/>
            <a:ext cx="0" cy="1431131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8069" y="2561779"/>
            <a:ext cx="3461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3 次循环的信号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68069" y="2812554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 3 次 = 更深层问题: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68069" y="2997845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计划有问题 (任务定义不清)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68069" y="3183136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子代理能力不足 (需要更强模型)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68069" y="3368427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架构设计有缺陷 (需要重新思考)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68069" y="3553718"/>
            <a:ext cx="34612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此时上报人类，不再盲目重试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52268" y="3967460"/>
            <a:ext cx="1194643" cy="834777"/>
          </a:xfrm>
          <a:prstGeom prst="roundRect">
            <a:avLst>
              <a:gd name="adj" fmla="val 608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143853" y="4068961"/>
            <a:ext cx="1011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143853" y="4414986"/>
            <a:ext cx="101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Review</a:t>
            </a:r>
            <a:endParaRPr lang="en-US" sz="8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48413" y="3967460"/>
            <a:ext cx="1194643" cy="834777"/>
          </a:xfrm>
          <a:prstGeom prst="roundRect">
            <a:avLst>
              <a:gd name="adj" fmla="val 608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439997" y="4068961"/>
            <a:ext cx="1011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439997" y="4414986"/>
            <a:ext cx="101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644557" y="3967460"/>
            <a:ext cx="1194643" cy="834777"/>
          </a:xfrm>
          <a:prstGeom prst="roundRect">
            <a:avLst>
              <a:gd name="adj" fmla="val 608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736141" y="4068961"/>
            <a:ext cx="1011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736141" y="4414986"/>
            <a:ext cx="1011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节省</a:t>
            </a:r>
            <a:endParaRPr lang="en-US" sz="8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v5.0.4 优化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原理五: TDD 强制执行 — Rigid Discipline Skill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923627"/>
            <a:ext cx="4165550" cy="596801"/>
          </a:xfrm>
          <a:prstGeom prst="roundRect">
            <a:avLst>
              <a:gd name="adj" fmla="val 8512"/>
            </a:avLst>
          </a:prstGeom>
          <a:solidFill>
            <a:srgbClr val="251E40"/>
          </a:solidFill>
          <a:ln w="19050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2065" y="1069628"/>
            <a:ext cx="39510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CODE WITHOUT A FAILING TEST FIRST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4800" y="1621929"/>
            <a:ext cx="42488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RED-GREEN-REFACTOR 循环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" y="1971080"/>
            <a:ext cx="1320850" cy="977652"/>
          </a:xfrm>
          <a:prstGeom prst="roundRect">
            <a:avLst>
              <a:gd name="adj" fmla="val 5196"/>
            </a:avLst>
          </a:prstGeom>
          <a:solidFill>
            <a:srgbClr val="3B1A1A"/>
          </a:solidFill>
          <a:ln w="19050">
            <a:solidFill>
              <a:srgbClr val="F851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471" y="2142530"/>
            <a:ext cx="997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471" y="2402830"/>
            <a:ext cx="997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写失败测试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471" y="2590056"/>
            <a:ext cx="997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必须看到失败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27150" y="1971080"/>
            <a:ext cx="1320850" cy="977652"/>
          </a:xfrm>
          <a:prstGeom prst="roundRect">
            <a:avLst>
              <a:gd name="adj" fmla="val 5196"/>
            </a:avLst>
          </a:prstGeom>
          <a:solidFill>
            <a:srgbClr val="1A2A1A"/>
          </a:solidFill>
          <a:ln w="19050">
            <a:solidFill>
              <a:srgbClr val="3FB9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88821" y="2142530"/>
            <a:ext cx="997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88821" y="2402830"/>
            <a:ext cx="997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写最小代码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88821" y="2590056"/>
            <a:ext cx="997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必须看到通过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49501" y="1971080"/>
            <a:ext cx="1320850" cy="977652"/>
          </a:xfrm>
          <a:prstGeom prst="roundRect">
            <a:avLst>
              <a:gd name="adj" fmla="val 5196"/>
            </a:avLst>
          </a:prstGeom>
          <a:solidFill>
            <a:srgbClr val="1A1A2A"/>
          </a:solidFill>
          <a:ln w="19050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11171" y="2142530"/>
            <a:ext cx="997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1171" y="2402830"/>
            <a:ext cx="997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清理重构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1171" y="2590056"/>
            <a:ext cx="997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保持测试绿色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" y="3101132"/>
            <a:ext cx="42488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vs Flexible Skills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4800" y="3412182"/>
            <a:ext cx="4165550" cy="789980"/>
          </a:xfrm>
          <a:prstGeom prst="roundRect">
            <a:avLst>
              <a:gd name="adj" fmla="val 6431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3850" y="3412182"/>
            <a:ext cx="0" cy="789980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300" y="3538984"/>
            <a:ext cx="38991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(TDD/Debugging): 必须精确遵循，不可调整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300" y="3726210"/>
            <a:ext cx="38991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(设计/规划): 可根据上下文适应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5300" y="3913436"/>
            <a:ext cx="38991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属于 Rigid — 违反字面即违反精神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73501" y="923627"/>
            <a:ext cx="42490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Rationalization Table (借口粉碎表)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73501" y="1272778"/>
            <a:ext cx="1888927" cy="294977"/>
          </a:xfrm>
          <a:prstGeom prst="roundRect">
            <a:avLst>
              <a:gd name="adj" fmla="val 12916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5002" y="1348829"/>
            <a:ext cx="17196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"太简单不需要测试"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13178" y="1272778"/>
            <a:ext cx="2226022" cy="294977"/>
          </a:xfrm>
          <a:prstGeom prst="roundRect">
            <a:avLst>
              <a:gd name="adj" fmla="val 12916"/>
            </a:avLst>
          </a:prstGeom>
          <a:solidFill>
            <a:srgbClr val="1A2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4679" y="1348829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简单代码也会崩。测试只需 30 秒。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73501" y="1605855"/>
            <a:ext cx="1888927" cy="294977"/>
          </a:xfrm>
          <a:prstGeom prst="roundRect">
            <a:avLst>
              <a:gd name="adj" fmla="val 12916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5002" y="1681907"/>
            <a:ext cx="17196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"写完再测"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13178" y="1605855"/>
            <a:ext cx="2226022" cy="294977"/>
          </a:xfrm>
          <a:prstGeom prst="roundRect">
            <a:avLst>
              <a:gd name="adj" fmla="val 12916"/>
            </a:avLst>
          </a:prstGeom>
          <a:solidFill>
            <a:srgbClr val="1A2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14679" y="1681907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测试直接通过 = 证明不了什么。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73501" y="1938933"/>
            <a:ext cx="1888927" cy="294977"/>
          </a:xfrm>
          <a:prstGeom prst="roundRect">
            <a:avLst>
              <a:gd name="adj" fmla="val 12916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75002" y="2014984"/>
            <a:ext cx="17196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"保留做参考"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13178" y="1938933"/>
            <a:ext cx="2226022" cy="294977"/>
          </a:xfrm>
          <a:prstGeom prst="roundRect">
            <a:avLst>
              <a:gd name="adj" fmla="val 12916"/>
            </a:avLst>
          </a:prstGeom>
          <a:solidFill>
            <a:srgbClr val="1A2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14679" y="2014984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你会改它。Delete 就是 DELETE。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73501" y="2272010"/>
            <a:ext cx="1888927" cy="294977"/>
          </a:xfrm>
          <a:prstGeom prst="roundRect">
            <a:avLst>
              <a:gd name="adj" fmla="val 12916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75002" y="2348061"/>
            <a:ext cx="17196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"手动测过了"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13178" y="2272010"/>
            <a:ext cx="2226022" cy="294977"/>
          </a:xfrm>
          <a:prstGeom prst="roundRect">
            <a:avLst>
              <a:gd name="adj" fmla="val 12916"/>
            </a:avLst>
          </a:prstGeom>
          <a:solidFill>
            <a:srgbClr val="1A2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14679" y="2348061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删除代码。从 TDD 重新开始。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73501" y="2605088"/>
            <a:ext cx="1888927" cy="294977"/>
          </a:xfrm>
          <a:prstGeom prst="roundRect">
            <a:avLst>
              <a:gd name="adj" fmla="val 12916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75002" y="2681139"/>
            <a:ext cx="17196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"这次情况不同"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13178" y="2605088"/>
            <a:ext cx="2226022" cy="294977"/>
          </a:xfrm>
          <a:prstGeom prst="roundRect">
            <a:avLst>
              <a:gd name="adj" fmla="val 12916"/>
            </a:avLst>
          </a:prstGeom>
          <a:solidFill>
            <a:srgbClr val="1A2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14679" y="2681139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 = 更需要测试。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73501" y="2938165"/>
            <a:ext cx="1888927" cy="294977"/>
          </a:xfrm>
          <a:prstGeom prst="roundRect">
            <a:avLst>
              <a:gd name="adj" fmla="val 12916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75002" y="3014216"/>
            <a:ext cx="17196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"重要的是精神"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13178" y="2938165"/>
            <a:ext cx="2226022" cy="294977"/>
          </a:xfrm>
          <a:prstGeom prst="roundRect">
            <a:avLst>
              <a:gd name="adj" fmla="val 12916"/>
            </a:avLst>
          </a:prstGeom>
          <a:solidFill>
            <a:srgbClr val="1A2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14679" y="3014216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违反字面规则 = 违反精神。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73501" y="3334643"/>
            <a:ext cx="4165699" cy="602754"/>
          </a:xfrm>
          <a:prstGeom prst="roundRect">
            <a:avLst>
              <a:gd name="adj" fmla="val 8428"/>
            </a:avLst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92551" y="3334643"/>
            <a:ext cx="0" cy="602754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001" y="3461445"/>
            <a:ext cx="3899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三道防线: Rationalization Table + Red Flags List + 绝对要求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64001" y="3648670"/>
            <a:ext cx="3899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所有借口的答案: 删除代码，从 TDD 重新开始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原理六: Hook 系统与 Git Worktree 隔离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47427"/>
            <a:ext cx="426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 Hook 工作流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4800" y="1107728"/>
            <a:ext cx="4178350" cy="269677"/>
          </a:xfrm>
          <a:prstGeom prst="roundRect">
            <a:avLst>
              <a:gd name="adj" fmla="val 141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14325" y="1107728"/>
            <a:ext cx="0" cy="269677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351" y="1171129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检查遗留目录 (~/.config/superpowers/)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301" y="1402705"/>
            <a:ext cx="41583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4800" y="1542306"/>
            <a:ext cx="4178350" cy="269677"/>
          </a:xfrm>
          <a:prstGeom prst="roundRect">
            <a:avLst>
              <a:gd name="adj" fmla="val 14128"/>
            </a:avLst>
          </a:prstGeom>
          <a:solidFill>
            <a:srgbClr val="251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4325" y="1542306"/>
            <a:ext cx="0" cy="269677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351" y="1605707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读取 using-superpowers SKILL.md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6301" y="1837283"/>
            <a:ext cx="41583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4800" y="1976884"/>
            <a:ext cx="4178350" cy="269677"/>
          </a:xfrm>
          <a:prstGeom prst="roundRect">
            <a:avLst>
              <a:gd name="adj" fmla="val 141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14325" y="1976884"/>
            <a:ext cx="0" cy="269677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351" y="2040285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JSON 转义 (Bash parameter substitution)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6301" y="2271861"/>
            <a:ext cx="41583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4800" y="2411462"/>
            <a:ext cx="4178350" cy="269677"/>
          </a:xfrm>
          <a:prstGeom prst="roundRect">
            <a:avLst>
              <a:gd name="adj" fmla="val 141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14325" y="2411462"/>
            <a:ext cx="0" cy="269677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351" y="2474863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构造 context (EXTREMELY_IMPORTANT 前缀)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6301" y="2706439"/>
            <a:ext cx="41583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800" y="2846040"/>
            <a:ext cx="4178350" cy="269677"/>
          </a:xfrm>
          <a:prstGeom prst="roundRect">
            <a:avLst>
              <a:gd name="adj" fmla="val 141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14325" y="2846040"/>
            <a:ext cx="0" cy="269677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351" y="2909441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平台感知输出 (Cursor/Claude Code/fallback)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4800" y="3166467"/>
            <a:ext cx="4178350" cy="548878"/>
          </a:xfrm>
          <a:prstGeom prst="roundRect">
            <a:avLst>
              <a:gd name="adj" fmla="val 6941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5826" y="3252043"/>
            <a:ext cx="40354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Bash 5.3+ heredoc 大变量挂起 -&gt; printf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15826" y="3388519"/>
            <a:ext cx="40354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'{"field": "%s"}' "$variable"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15826" y="3505944"/>
            <a:ext cx="40354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只有一个 Hook: 其他 Skill 通过 CSO 按需加载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60850" y="847427"/>
            <a:ext cx="426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Worktree 隔离策略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0850" y="1107728"/>
            <a:ext cx="4178350" cy="469553"/>
          </a:xfrm>
          <a:prstGeom prst="roundRect">
            <a:avLst>
              <a:gd name="adj" fmla="val 811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70375" y="1107728"/>
            <a:ext cx="0" cy="469553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1401" y="1171129"/>
            <a:ext cx="40354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目录选择优先级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81401" y="1358354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.worktrees/ (推荐) 2. worktrees/ 3. CLAUDE.md 配置 4. 询问用户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0850" y="1628031"/>
            <a:ext cx="4178350" cy="625078"/>
          </a:xfrm>
          <a:prstGeom prst="roundRect">
            <a:avLst>
              <a:gd name="adj" fmla="val 609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70375" y="1628031"/>
            <a:ext cx="0" cy="625078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1401" y="1691432"/>
            <a:ext cx="40354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安全验证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81401" y="1878657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创建前必须验证 .gitignore 包含 worktree 目录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81401" y="2034183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若未忽略: 先加 .gitignore -&gt; 提交 -&gt; 再创建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0850" y="2303859"/>
            <a:ext cx="4178350" cy="596503"/>
          </a:xfrm>
          <a:prstGeom prst="roundRect">
            <a:avLst>
              <a:gd name="adj" fmla="val 638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70375" y="2303859"/>
            <a:ext cx="0" cy="596503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1401" y="2367260"/>
            <a:ext cx="40354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自动环境检测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81401" y="2554486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package.json -&gt; npm install | Cargo.toml -&gt; cargo build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81401" y="2681436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 -&gt; pip install | 运行测试验证 baseline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60850" y="2951113"/>
            <a:ext cx="426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多平台适配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60850" y="3211413"/>
            <a:ext cx="1006525" cy="355402"/>
          </a:xfrm>
          <a:prstGeom prst="roundRect">
            <a:avLst>
              <a:gd name="adj" fmla="val 1072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28509" y="3262164"/>
            <a:ext cx="871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28509" y="3408164"/>
            <a:ext cx="871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hookSpecificOutput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718125" y="3211413"/>
            <a:ext cx="1006525" cy="355402"/>
          </a:xfrm>
          <a:prstGeom prst="roundRect">
            <a:avLst>
              <a:gd name="adj" fmla="val 1072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785784" y="3262164"/>
            <a:ext cx="871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85784" y="3408164"/>
            <a:ext cx="871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camelCase hooks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75400" y="3211413"/>
            <a:ext cx="1006525" cy="355402"/>
          </a:xfrm>
          <a:prstGeom prst="roundRect">
            <a:avLst>
              <a:gd name="adj" fmla="val 1072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43059" y="3262164"/>
            <a:ext cx="871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43059" y="3408164"/>
            <a:ext cx="871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JSON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832675" y="3211413"/>
            <a:ext cx="1006525" cy="355402"/>
          </a:xfrm>
          <a:prstGeom prst="roundRect">
            <a:avLst>
              <a:gd name="adj" fmla="val 1072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900334" y="3262164"/>
            <a:ext cx="871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900334" y="3408164"/>
            <a:ext cx="871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Setup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VoltAgent 原理一: Agent .md 结构与加载机制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47427"/>
            <a:ext cx="46493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文件标准结构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4800" y="1107728"/>
            <a:ext cx="4558159" cy="1923306"/>
          </a:xfrm>
          <a:prstGeom prst="roundRect">
            <a:avLst>
              <a:gd name="adj" fmla="val 1981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5826" y="1206103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YAML Frontmatter ---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5826" y="1323529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api-designer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15826" y="1440954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when designing APIs"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5826" y="1558379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Read, Write, Edit, Bash, Glob, Grep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5826" y="1675805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15826" y="1793230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5826" y="1910655"/>
            <a:ext cx="44228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内容模板 (7 层)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5826" y="2047131"/>
            <a:ext cx="44228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角色定义 (senior + expertise)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5826" y="2183606"/>
            <a:ext cx="44228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When invoked: 初始化 4 步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5826" y="2320082"/>
            <a:ext cx="44228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核心能力 Checklist (7-8 项)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5826" y="2456557"/>
            <a:ext cx="44228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专业领域 (8-12 子项/节)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5826" y="2593032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Communication Protocol (JSON)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15826" y="2710458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Development Workflow (3 Phase)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5826" y="2827883"/>
            <a:ext cx="4422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Integration with other agents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4800" y="3107234"/>
            <a:ext cx="46493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工具权限按角色分配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4800" y="3367534"/>
            <a:ext cx="4558159" cy="606028"/>
          </a:xfrm>
          <a:prstGeom prst="roundRect">
            <a:avLst>
              <a:gd name="adj" fmla="val 628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14325" y="3367534"/>
            <a:ext cx="0" cy="606028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351" y="3443585"/>
            <a:ext cx="4422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审核员: Read, Grep, Glob (只读)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5351" y="3599111"/>
            <a:ext cx="4422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研究型: + WebFetch, WebSearch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5351" y="3754636"/>
            <a:ext cx="4422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开发者: Read, Write, Edit, Bash, Glob, Grep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4800" y="4024313"/>
            <a:ext cx="46493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模型选择策略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4800" y="4284613"/>
            <a:ext cx="4558159" cy="606028"/>
          </a:xfrm>
          <a:prstGeom prst="roundRect">
            <a:avLst>
              <a:gd name="adj" fmla="val 628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14325" y="4284613"/>
            <a:ext cx="0" cy="606028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351" y="4360664"/>
            <a:ext cx="4422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opus: 最复杂 (code-reviewer 多语言分析)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5351" y="4516189"/>
            <a:ext cx="4422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sonnet: 标准 (api-designer/docker-expert)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5351" y="4671715"/>
            <a:ext cx="4422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haiku: 简单高频 (task-distributor)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40660" y="847427"/>
            <a:ext cx="38745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加载流程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40660" y="1107728"/>
            <a:ext cx="3798540" cy="244376"/>
          </a:xfrm>
          <a:prstGeom prst="roundRect">
            <a:avLst>
              <a:gd name="adj" fmla="val 1559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16860" y="1158478"/>
            <a:ext cx="3719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Scan: 扫描 ~/.claude/agents/ + .claude/agents/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42161" y="1377404"/>
            <a:ext cx="3770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40660" y="1517005"/>
            <a:ext cx="3798540" cy="244376"/>
          </a:xfrm>
          <a:prstGeom prst="roundRect">
            <a:avLst>
              <a:gd name="adj" fmla="val 1559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16860" y="1567755"/>
            <a:ext cx="3719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Parse: 解析每个 .md 的 YAML Frontmatter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42161" y="1786682"/>
            <a:ext cx="3770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40660" y="1926282"/>
            <a:ext cx="3798540" cy="244376"/>
          </a:xfrm>
          <a:prstGeom prst="roundRect">
            <a:avLst>
              <a:gd name="adj" fmla="val 1559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16860" y="1977033"/>
            <a:ext cx="3719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Dedup: 项目级覆盖全局级 (同名去重)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42161" y="2195959"/>
            <a:ext cx="3770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40660" y="2335560"/>
            <a:ext cx="3798540" cy="244376"/>
          </a:xfrm>
          <a:prstGeom prst="roundRect">
            <a:avLst>
              <a:gd name="adj" fmla="val 1559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16860" y="2386310"/>
            <a:ext cx="3719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Index: 构建搜索索引 (name/desc/category)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42161" y="2605236"/>
            <a:ext cx="3770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40660" y="2744837"/>
            <a:ext cx="3798540" cy="244376"/>
          </a:xfrm>
          <a:prstGeom prst="roundRect">
            <a:avLst>
              <a:gd name="adj" fmla="val 1559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16860" y="2795588"/>
            <a:ext cx="3719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Match: 用户消息 -&gt; 匹配 description 关键词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42161" y="3014514"/>
            <a:ext cx="3770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40660" y="3154114"/>
            <a:ext cx="3798540" cy="244376"/>
          </a:xfrm>
          <a:prstGeom prst="roundRect">
            <a:avLst>
              <a:gd name="adj" fmla="val 1559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16860" y="3204865"/>
            <a:ext cx="3719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Load: 解析 .md 正文 -&gt; 生成 System Prompt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42161" y="3423791"/>
            <a:ext cx="3770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40660" y="3563392"/>
            <a:ext cx="3798540" cy="244376"/>
          </a:xfrm>
          <a:prstGeom prst="roundRect">
            <a:avLst>
              <a:gd name="adj" fmla="val 1559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116860" y="3614142"/>
            <a:ext cx="3719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应用 tools 字段 -&gt; 工具权限沙箱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40660" y="3807768"/>
            <a:ext cx="3798540" cy="780604"/>
          </a:xfrm>
          <a:prstGeom prst="roundRect">
            <a:avLst>
              <a:gd name="adj" fmla="val 488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050185" y="3807768"/>
            <a:ext cx="0" cy="780604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61211" y="3871168"/>
            <a:ext cx="36480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生成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1211" y="4058394"/>
            <a:ext cx="36480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.md 正文 -&gt; 角色定义 + When invoked 步骤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61211" y="4213920"/>
            <a:ext cx="36480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能力清单 + 专业领域 + 通信协议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61211" y="4369445"/>
            <a:ext cx="36480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 2000-4000 tokens，完整角色定义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VoltAgent 原理二: Prompt Engineering 模式分析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47427"/>
            <a:ext cx="4274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 Prompt 模式对比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4800" y="1107728"/>
            <a:ext cx="4191000" cy="1200150"/>
          </a:xfrm>
          <a:prstGeom prst="roundRect">
            <a:avLst>
              <a:gd name="adj" fmla="val 317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1117253"/>
            <a:ext cx="4191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301" y="1190179"/>
            <a:ext cx="4067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api-designer (sonnet)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348829"/>
            <a:ext cx="406775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"senior API designer specializing in..."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6301" y="1489621"/>
            <a:ext cx="3987998" cy="754856"/>
          </a:xfrm>
          <a:prstGeom prst="roundRect">
            <a:avLst>
              <a:gd name="adj" fmla="val 504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501" y="1553021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invoked: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82501" y="1681163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Query context -&gt; existing APIs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82501" y="1809304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Review -&gt; current endpoints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2501" y="1937445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Analyze -&gt; requirements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2501" y="2065586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Implement -&gt; API design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4800" y="2358628"/>
            <a:ext cx="4191000" cy="943868"/>
          </a:xfrm>
          <a:prstGeom prst="roundRect">
            <a:avLst>
              <a:gd name="adj" fmla="val 403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2368153"/>
            <a:ext cx="4191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301" y="2441079"/>
            <a:ext cx="4067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docker-expert (sonnet)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6301" y="2599730"/>
            <a:ext cx="406775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"senior containerization specialist..."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6301" y="2740521"/>
            <a:ext cx="3987998" cy="498574"/>
          </a:xfrm>
          <a:prstGeom prst="roundRect">
            <a:avLst>
              <a:gd name="adj" fmla="val 764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01" y="2803922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Checklist: image_size &gt; 70% reduced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2501" y="2932063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build_time &gt; 60% reduced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2501" y="3060204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security_score &gt; A rating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04800" y="3353246"/>
            <a:ext cx="4191000" cy="815727"/>
          </a:xfrm>
          <a:prstGeom prst="roundRect">
            <a:avLst>
              <a:gd name="adj" fmla="val 467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04800" y="3362771"/>
            <a:ext cx="4191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301" y="3435697"/>
            <a:ext cx="4067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code-reviewer (opus)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6301" y="3594348"/>
            <a:ext cx="406775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"senior code reviewer" | 最复杂任务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06301" y="3735139"/>
            <a:ext cx="3987998" cy="370433"/>
          </a:xfrm>
          <a:prstGeom prst="roundRect">
            <a:avLst>
              <a:gd name="adj" fmla="val 1028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501" y="3798540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severity-ranked findings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2501" y="3926681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&gt; warning &gt; info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648200" y="847427"/>
            <a:ext cx="4274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标准化输出格式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48200" y="1107728"/>
            <a:ext cx="4191000" cy="831652"/>
          </a:xfrm>
          <a:prstGeom prst="roundRect">
            <a:avLst>
              <a:gd name="adj" fmla="val 458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48200" y="1117253"/>
            <a:ext cx="4191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9701" y="1190179"/>
            <a:ext cx="40677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 (所有代理)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9701" y="1377404"/>
            <a:ext cx="3987998" cy="498574"/>
          </a:xfrm>
          <a:prstGeom prst="roundRect">
            <a:avLst>
              <a:gd name="adj" fmla="val 764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5901" y="1440805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{"agent": "api-designer",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25901" y="1568946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"status": "designing endpoints",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25901" y="1697087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"progress": {"endpoints": 12}}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48200" y="1990130"/>
            <a:ext cx="4191000" cy="803077"/>
          </a:xfrm>
          <a:prstGeom prst="roundRect">
            <a:avLst>
              <a:gd name="adj" fmla="val 474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48200" y="1999655"/>
            <a:ext cx="4191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9701" y="2072580"/>
            <a:ext cx="4067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Notification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49701" y="2231231"/>
            <a:ext cx="3987998" cy="498574"/>
          </a:xfrm>
          <a:prstGeom prst="roundRect">
            <a:avLst>
              <a:gd name="adj" fmla="val 764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25901" y="2294632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"[API] 45 endpoints, OpenAPI 3.1"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25901" y="2422773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"[Docker] 847MB-&gt;89MB (89% cut)"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25901" y="2550914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"[Review] 47 files, 2 critical"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648200" y="2843957"/>
            <a:ext cx="4191000" cy="1149102"/>
          </a:xfrm>
          <a:prstGeom prst="roundRect">
            <a:avLst>
              <a:gd name="adj" fmla="val 3316"/>
            </a:avLst>
          </a:prstGeom>
          <a:solidFill>
            <a:srgbClr val="251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57725" y="2843957"/>
            <a:ext cx="0" cy="1149102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4200" y="2920157"/>
            <a:ext cx="39964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 Prompt 模式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94200" y="3139232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"senior" 前缀 -&gt; 建立权威性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94200" y="3294757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"expertise in" -&gt; 知识边界定义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94200" y="3450282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invoked 4 步: 信息-&gt;分析-&gt;优化-&gt;交付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94200" y="3605808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Protocol: JSON 标准化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94200" y="3761333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 声明协作代理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VoltAgent 原理三: 元编排层 — 多代理协调架构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98327"/>
            <a:ext cx="38745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三层编排架构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4800" y="1203127"/>
            <a:ext cx="3798540" cy="307777"/>
          </a:xfrm>
          <a:prstGeom prst="roundRect">
            <a:avLst>
              <a:gd name="adj" fmla="val 16505"/>
            </a:avLst>
          </a:prstGeom>
          <a:solidFill>
            <a:srgbClr val="251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1266527"/>
            <a:ext cx="36155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顶层: multi-agent-coordinator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800" y="1510903"/>
            <a:ext cx="3798540" cy="682228"/>
          </a:xfrm>
          <a:prstGeom prst="rect">
            <a:avLst/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612404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管理并发代理通信和同步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1750" y="1780580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防止死锁和资源竞争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1750" y="1948755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全局进度监控和异常处理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4800" y="2294632"/>
            <a:ext cx="3798540" cy="307777"/>
          </a:xfrm>
          <a:prstGeom prst="roundRect">
            <a:avLst>
              <a:gd name="adj" fmla="val 16505"/>
            </a:avLst>
          </a:prstGeom>
          <a:solidFill>
            <a:srgbClr val="251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2358033"/>
            <a:ext cx="36155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核心编排层 (4 个代理)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800" y="2602409"/>
            <a:ext cx="3798540" cy="850404"/>
          </a:xfrm>
          <a:prstGeom prst="rect">
            <a:avLst/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750" y="2703909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agent-organizer: 任务分解 + 代理选择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1750" y="2872085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workflow-orchestrator: 状态机 + 错误恢复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1750" y="3040261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task-distributor: 负载均衡 + 优先级调度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1750" y="3208437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context-manager: 共享状态 + 版本控制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800" y="3554313"/>
            <a:ext cx="3798540" cy="307777"/>
          </a:xfrm>
          <a:prstGeom prst="roundRect">
            <a:avLst>
              <a:gd name="adj" fmla="val 16505"/>
            </a:avLst>
          </a:prstGeom>
          <a:solidFill>
            <a:srgbClr val="251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1750" y="3617714"/>
            <a:ext cx="36155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支撑编排层 (3 个代理)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4800" y="3862090"/>
            <a:ext cx="3798540" cy="682228"/>
          </a:xfrm>
          <a:prstGeom prst="rect">
            <a:avLst/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1750" y="3963591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error-coordinator: 30 秒内检测故障 + 关联分析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1750" y="4131766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performance-monitor: 延迟/吞吐量/成功率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1750" y="4299942"/>
            <a:ext cx="3615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knowledge-synthesizer: 从流程学习更新知识库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81041" y="898327"/>
            <a:ext cx="4649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运行时协调示例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81041" y="1203127"/>
            <a:ext cx="4558159" cy="2481858"/>
          </a:xfrm>
          <a:prstGeom prst="roundRect">
            <a:avLst>
              <a:gd name="adj" fmla="val 2047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17516" y="1326803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场景: 实现用户认证系统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17516" y="1482328"/>
            <a:ext cx="4370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T0: agent-organizer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17516" y="1609279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任务分解 -&gt; DAG 依赖图: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17516" y="1764804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api-designer (无依赖)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17516" y="1920329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security-auditor (依赖 api-designer)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17516" y="2075855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fullstack-dev (依赖 api + security)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17516" y="2231380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qa-expert (依赖 fullstack)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17516" y="2386905"/>
            <a:ext cx="4370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task-distributor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17516" y="2513856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策略: parallel_first_wave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17516" y="2669381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 1: api-designer (并行)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17516" y="2824907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 2: security-auditor (等 Wave 1)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17516" y="2980432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 3: fullstack-dev (等 Wave 2)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17516" y="3135957"/>
            <a:ext cx="4370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T2-T10: multi-agent-coordinator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17516" y="3262908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监控: 完成事件 / 错误 / 性能异常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17516" y="3418433"/>
            <a:ext cx="4370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状态同步到 context-manager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81041" y="3761184"/>
            <a:ext cx="4558159" cy="1094780"/>
          </a:xfrm>
          <a:prstGeom prst="roundRect">
            <a:avLst>
              <a:gd name="adj" fmla="val 464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300091" y="3761184"/>
            <a:ext cx="0" cy="1094780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71541" y="3862685"/>
            <a:ext cx="42995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模式 (workflow-orchestrator)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71541" y="4081760"/>
            <a:ext cx="42995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每步操作都有补偿事务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71541" y="4249936"/>
            <a:ext cx="42995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失败时自动回滚到上一个检查点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471541" y="4418112"/>
            <a:ext cx="42995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通知依赖的后续任务延迟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471541" y="4586288"/>
            <a:ext cx="42995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[开始] -&gt; [设计] -&gt; [验证] -&gt; [实现] -&gt; [测试] -&gt; [完成]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实践: 安装部署与使用场景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47427"/>
            <a:ext cx="426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安装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4800" y="1133177"/>
            <a:ext cx="4261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插件市场 (推荐)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4800" y="1339453"/>
            <a:ext cx="4178350" cy="285452"/>
          </a:xfrm>
          <a:prstGeom prst="roundRect">
            <a:avLst>
              <a:gd name="adj" fmla="val 13347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5826" y="1425029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install obra/superpowers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4800" y="1701105"/>
            <a:ext cx="4261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手动链接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4800" y="1907381"/>
            <a:ext cx="4178350" cy="412403"/>
          </a:xfrm>
          <a:prstGeom prst="roundRect">
            <a:avLst>
              <a:gd name="adj" fmla="val 9239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5826" y="1992957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 -s path/superpowers/skills .claude/skills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5826" y="2119908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 -s path/superpowers/agents .claude/agents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4800" y="2370534"/>
            <a:ext cx="426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VoltAgent 安装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800" y="2656284"/>
            <a:ext cx="4261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交互式安装器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800" y="2862560"/>
            <a:ext cx="4178350" cy="412403"/>
          </a:xfrm>
          <a:prstGeom prst="roundRect">
            <a:avLst>
              <a:gd name="adj" fmla="val 9239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5826" y="2948136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awesome-claude-code-subagents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5826" y="3075087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./install-agents.sh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4800" y="3351163"/>
            <a:ext cx="4261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按需安装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4800" y="3557439"/>
            <a:ext cx="4178350" cy="412403"/>
          </a:xfrm>
          <a:prstGeom prst="roundRect">
            <a:avLst>
              <a:gd name="adj" fmla="val 9239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5826" y="3643015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categories/04-quality-security/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5826" y="3769965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security-auditor.md ~/.claude/agents/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0850" y="847427"/>
            <a:ext cx="426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安装位置与优先级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0850" y="1107728"/>
            <a:ext cx="2051000" cy="440978"/>
          </a:xfrm>
          <a:prstGeom prst="roundRect">
            <a:avLst>
              <a:gd name="adj" fmla="val 8640"/>
            </a:avLst>
          </a:prstGeom>
          <a:solidFill>
            <a:srgbClr val="251E40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14725" y="1180654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.claude/agents/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14725" y="1339304"/>
            <a:ext cx="19432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项目级 | 优先级高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788051" y="1107728"/>
            <a:ext cx="2051149" cy="440978"/>
          </a:xfrm>
          <a:prstGeom prst="roundRect">
            <a:avLst>
              <a:gd name="adj" fmla="val 8640"/>
            </a:avLst>
          </a:prstGeom>
          <a:solidFill>
            <a:srgbClr val="1E2130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41924" y="1180654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~/.claude/agents/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41924" y="1339304"/>
            <a:ext cx="19434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全局级 | 优先级低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60850" y="1624905"/>
            <a:ext cx="4178350" cy="294977"/>
          </a:xfrm>
          <a:prstGeom prst="roundRect">
            <a:avLst>
              <a:gd name="adj" fmla="val 12916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70375" y="1624905"/>
            <a:ext cx="0" cy="294977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1401" y="1700957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同名代理: 项目级覆盖全局级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0850" y="1970633"/>
            <a:ext cx="426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推荐使用场景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0850" y="2230934"/>
            <a:ext cx="4178350" cy="421928"/>
          </a:xfrm>
          <a:prstGeom prst="roundRect">
            <a:avLst>
              <a:gd name="adj" fmla="val 903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70375" y="2230934"/>
            <a:ext cx="0" cy="421928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1401" y="2306985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新功能开发 -&gt; Superpowers 全流程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81401" y="2462510"/>
            <a:ext cx="4035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 -&gt; plan -&gt; subagent-driven-dev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0850" y="2703612"/>
            <a:ext cx="4178350" cy="450503"/>
          </a:xfrm>
          <a:prstGeom prst="roundRect">
            <a:avLst>
              <a:gd name="adj" fmla="val 845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70375" y="2703612"/>
            <a:ext cx="0" cy="450503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1401" y="2779663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专项任务 -&gt; VoltAgent 专家代理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1401" y="2935188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安全审计 / Docker 优化 / API 设计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0850" y="3204865"/>
            <a:ext cx="4178350" cy="450503"/>
          </a:xfrm>
          <a:prstGeom prst="roundRect">
            <a:avLst>
              <a:gd name="adj" fmla="val 8457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70375" y="3204865"/>
            <a:ext cx="0" cy="450503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1401" y="3280916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组合使用 -&gt; Superpowers 编排 + VoltAgent 执行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81401" y="3436441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subagent-driven-dev 中调度 VoltAgent 专家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框架演进: Superpowers 关键设计决策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98327"/>
            <a:ext cx="87050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版本演进时间线 (2026.03)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1247477"/>
            <a:ext cx="1625650" cy="1429792"/>
          </a:xfrm>
          <a:prstGeom prst="roundRect">
            <a:avLst>
              <a:gd name="adj" fmla="val 355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1266527"/>
            <a:ext cx="1625650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301" y="1387078"/>
            <a:ext cx="14511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1590229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6301" y="1731020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大重构: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6301" y="1871811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Subagent-driven 成为默认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6301" y="2012603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Spec/Plan Review Loop 引入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06301" y="2153394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斜杠命令弃用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06301" y="2294186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Brainstorm 伴侣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031950" y="1247477"/>
            <a:ext cx="1625798" cy="1429792"/>
          </a:xfrm>
          <a:prstGeom prst="roundRect">
            <a:avLst>
              <a:gd name="adj" fmla="val 355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031950" y="1266527"/>
            <a:ext cx="1625798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3451" y="1387078"/>
            <a:ext cx="14512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v5.0.1-2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3451" y="1590229"/>
            <a:ext cx="145125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03-10~11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133451" y="1731020"/>
            <a:ext cx="145125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多平台适配: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133451" y="1871811"/>
            <a:ext cx="145125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hooks 支持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33451" y="2012603"/>
            <a:ext cx="145125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 extension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133451" y="2153394"/>
            <a:ext cx="145125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零依赖服务器重写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33451" y="2294186"/>
            <a:ext cx="145125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 Express/WebSocket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33451" y="2434977"/>
            <a:ext cx="145125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自实现 RFC 6455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759250" y="1247477"/>
            <a:ext cx="1625650" cy="1429792"/>
          </a:xfrm>
          <a:prstGeom prst="roundRect">
            <a:avLst>
              <a:gd name="adj" fmla="val 355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759250" y="1266527"/>
            <a:ext cx="1625650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0750" y="1387078"/>
            <a:ext cx="14511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60750" y="1590229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60750" y="1731020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修复: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60750" y="1871811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5.3+ heredoc 挂起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60750" y="2012603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改用 printf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60750" y="2153394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POSIX shebang 移植性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60750" y="2294186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#!/bin/bash -&gt; #!/usr/bin/env bash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0" y="1247477"/>
            <a:ext cx="1625650" cy="1429792"/>
          </a:xfrm>
          <a:prstGeom prst="roundRect">
            <a:avLst>
              <a:gd name="adj" fmla="val 355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486400" y="1266527"/>
            <a:ext cx="1625650" cy="0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87901" y="1387078"/>
            <a:ext cx="14511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87901" y="1590229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87901" y="1731020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优化: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587901" y="1871811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review -&gt; 整体审查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87901" y="2012603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7 -&gt; 4 项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587901" y="2153394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iterations 5 -&gt; 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587901" y="2294186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节省 50%+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213550" y="1247477"/>
            <a:ext cx="1625650" cy="1429792"/>
          </a:xfrm>
          <a:prstGeom prst="roundRect">
            <a:avLst>
              <a:gd name="adj" fmla="val 355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213550" y="1266527"/>
            <a:ext cx="1625650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051" y="1387078"/>
            <a:ext cx="14511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051" y="1590229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03-17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315051" y="1731020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用户选择恢复: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315051" y="1871811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Subagent-driven 推荐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315051" y="2012603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但不再强制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315051" y="2153394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executing-plans 保留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315051" y="2294186"/>
            <a:ext cx="14511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为无子代理平台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04800" y="2829669"/>
            <a:ext cx="2760166" cy="913954"/>
          </a:xfrm>
          <a:prstGeom prst="roundRect">
            <a:avLst>
              <a:gd name="adj" fmla="val 5558"/>
            </a:avLst>
          </a:prstGeom>
          <a:solidFill>
            <a:srgbClr val="1A2A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323850" y="2829669"/>
            <a:ext cx="0" cy="91395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850" y="2931170"/>
            <a:ext cx="25175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教训 1: Description 不能摘要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9850" y="3162895"/>
            <a:ext cx="25175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v5.0.0 发现: 描述含工作流摘要时，Claude 走捷径只做一次审查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9850" y="3473946"/>
            <a:ext cx="2517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修复: Description 只描述触发条件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191917" y="2829669"/>
            <a:ext cx="2760166" cy="913954"/>
          </a:xfrm>
          <a:prstGeom prst="roundRect">
            <a:avLst>
              <a:gd name="adj" fmla="val 5558"/>
            </a:avLst>
          </a:prstGeom>
          <a:solidFill>
            <a:srgbClr val="1A2A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3210967" y="2829669"/>
            <a:ext cx="0" cy="91395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56967" y="2931170"/>
            <a:ext cx="25175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教训 2: 零依赖更可靠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56967" y="3162895"/>
            <a:ext cx="25175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v5.0.2: 移除 Express/Chokidar/WebSocket 约 1200 行依赖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56967" y="3473946"/>
            <a:ext cx="2517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替换为内置 Node.js http + 自实现 WebSocket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79034" y="2829669"/>
            <a:ext cx="2760166" cy="913954"/>
          </a:xfrm>
          <a:prstGeom prst="roundRect">
            <a:avLst>
              <a:gd name="adj" fmla="val 5558"/>
            </a:avLst>
          </a:prstGeom>
          <a:solidFill>
            <a:srgbClr val="1A2A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98084" y="2829669"/>
            <a:ext cx="0" cy="91395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44084" y="2931170"/>
            <a:ext cx="25175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教训 3: Token 效率至关重要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44084" y="3162895"/>
            <a:ext cx="2517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v5.0.4: 分块审查浪费 token，改为整体审查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44084" y="3331071"/>
            <a:ext cx="2517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精简检查项，只标记会导致真实问题的 issue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总结: 核心架构原则与学习路径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847427"/>
            <a:ext cx="4274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六大核心架构原则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4800" y="1133177"/>
            <a:ext cx="4191000" cy="425202"/>
          </a:xfrm>
          <a:prstGeom prst="roundRect">
            <a:avLst>
              <a:gd name="adj" fmla="val 896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19657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9524" y="124092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651" y="1196578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自动发现 &gt; 显式调用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1371154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CSO: Description 匹配, 按需加载全文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4800" y="1596479"/>
            <a:ext cx="4191000" cy="425202"/>
          </a:xfrm>
          <a:prstGeom prst="roundRect">
            <a:avLst>
              <a:gd name="adj" fmla="val 896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6301" y="16598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524" y="170423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651" y="1659880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隔离 &gt; 共享会话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651" y="1834455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独立上下文, Controller 精心构造输入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4800" y="2059781"/>
            <a:ext cx="4191000" cy="425202"/>
          </a:xfrm>
          <a:prstGeom prst="roundRect">
            <a:avLst>
              <a:gd name="adj" fmla="val 896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6301" y="212318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524" y="2167533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651" y="2123182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两阶段审查 &gt; 单阶段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651" y="2297757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 Spec 再 Quality, 顺序不可换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4800" y="2523083"/>
            <a:ext cx="4191000" cy="396627"/>
          </a:xfrm>
          <a:prstGeom prst="roundRect">
            <a:avLst>
              <a:gd name="adj" fmla="val 9606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6301" y="258648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524" y="263083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651" y="2586484"/>
            <a:ext cx="3782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&gt; Claims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651" y="2732484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无新鲜验证 = 不能声称完成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4800" y="2957810"/>
            <a:ext cx="4191000" cy="425202"/>
          </a:xfrm>
          <a:prstGeom prst="roundRect">
            <a:avLst>
              <a:gd name="adj" fmla="val 896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6301" y="302121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9524" y="306556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651" y="3021211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Disciplines 不可适应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651" y="3195786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TDD/Debugging 精确遵循, 设计可灵活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04800" y="3421112"/>
            <a:ext cx="4191000" cy="425202"/>
          </a:xfrm>
          <a:prstGeom prst="roundRect">
            <a:avLst>
              <a:gd name="adj" fmla="val 896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6301" y="348451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9524" y="3528864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651" y="3484513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as Code 声明式定义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651" y="3659088"/>
            <a:ext cx="3782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= 可执行知识库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48200" y="898178"/>
            <a:ext cx="4191000" cy="1069330"/>
          </a:xfrm>
          <a:prstGeom prst="roundRect">
            <a:avLst>
              <a:gd name="adj" fmla="val 3563"/>
            </a:avLst>
          </a:prstGeom>
          <a:solidFill>
            <a:srgbClr val="251E40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84675" y="1009204"/>
            <a:ext cx="3996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84675" y="1212354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Superpowers: 流程骨架 (How to do)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84675" y="1380530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VoltAgent: 专家能力 (Who does it)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1548705"/>
            <a:ext cx="3996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组合: 流程编排 + 领域专家 = 完整 AI 开发体系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84675" y="1716881"/>
            <a:ext cx="39964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Compression: Session -&gt; Controller -&gt; Subagent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48200" y="1967508"/>
            <a:ext cx="4274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学习资源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48200" y="2253258"/>
            <a:ext cx="4191000" cy="368052"/>
          </a:xfrm>
          <a:prstGeom prst="roundRect">
            <a:avLst>
              <a:gd name="adj" fmla="val 1035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57725" y="2253258"/>
            <a:ext cx="0" cy="368052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68751" y="2316659"/>
            <a:ext cx="4048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github.com/obra/superpowers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68751" y="2443609"/>
            <a:ext cx="4048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Agents + Hooks + Docs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48200" y="2659410"/>
            <a:ext cx="4191000" cy="368052"/>
          </a:xfrm>
          <a:prstGeom prst="roundRect">
            <a:avLst>
              <a:gd name="adj" fmla="val 1035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657725" y="2659410"/>
            <a:ext cx="0" cy="368052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8751" y="2722811"/>
            <a:ext cx="4048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github.com/VoltAgent/awesome-claude-code-subagents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68751" y="2849761"/>
            <a:ext cx="4048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127+ Agents + install-agents.sh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48200" y="3065562"/>
            <a:ext cx="4191000" cy="396627"/>
          </a:xfrm>
          <a:prstGeom prst="roundRect">
            <a:avLst>
              <a:gd name="adj" fmla="val 9606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57725" y="3065562"/>
            <a:ext cx="0" cy="396627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68751" y="3128963"/>
            <a:ext cx="4048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ai-skills/AI-Skills-Guide.md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68751" y="3255913"/>
            <a:ext cx="4048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完整使用指南 + Mermaid 流程图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-39675" y="4959400"/>
            <a:ext cx="9223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Skills Deep Dive | 2026.03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Skills 深度解析</dc:title>
  <dc:subject>PptxGenJS Presentation</dc:subject>
  <dc:creator>AI Coding Workshop</dc:creator>
  <cp:lastModifiedBy>AI Coding Workshop</cp:lastModifiedBy>
  <cp:revision>1</cp:revision>
  <dcterms:created xsi:type="dcterms:W3CDTF">2026-03-25T10:08:15Z</dcterms:created>
  <dcterms:modified xsi:type="dcterms:W3CDTF">2026-03-25T10:08:15Z</dcterms:modified>
</cp:coreProperties>
</file>